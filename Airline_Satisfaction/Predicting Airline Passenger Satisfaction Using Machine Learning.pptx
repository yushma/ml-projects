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1"/>
  </p:sldMasterIdLst>
  <p:notesMasterIdLst>
    <p:notesMasterId r:id="rId17"/>
  </p:notesMasterIdLst>
  <p:sldIdLst>
    <p:sldId id="256" r:id="rId2"/>
    <p:sldId id="257" r:id="rId3"/>
    <p:sldId id="258" r:id="rId4"/>
    <p:sldId id="259" r:id="rId5"/>
    <p:sldId id="261" r:id="rId6"/>
    <p:sldId id="260" r:id="rId7"/>
    <p:sldId id="262" r:id="rId8"/>
    <p:sldId id="271" r:id="rId9"/>
    <p:sldId id="272" r:id="rId10"/>
    <p:sldId id="273" r:id="rId11"/>
    <p:sldId id="263" r:id="rId12"/>
    <p:sldId id="264" r:id="rId13"/>
    <p:sldId id="265" r:id="rId14"/>
    <p:sldId id="266"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3DA5C-78D0-483C-914E-3200C2C5FB43}" type="datetimeFigureOut">
              <a:rPr lang="en-IN" smtClean="0"/>
              <a:t>26-02-2026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94E4BF-EA75-4B2F-A3E2-90B8F3BC1060}" type="slidenum">
              <a:rPr lang="en-IN" smtClean="0"/>
              <a:t>‹#›</a:t>
            </a:fld>
            <a:endParaRPr lang="en-IN"/>
          </a:p>
        </p:txBody>
      </p:sp>
    </p:spTree>
    <p:extLst>
      <p:ext uri="{BB962C8B-B14F-4D97-AF65-F5344CB8AC3E}">
        <p14:creationId xmlns:p14="http://schemas.microsoft.com/office/powerpoint/2010/main" val="425558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94E4BF-EA75-4B2F-A3E2-90B8F3BC1060}" type="slidenum">
              <a:rPr lang="en-IN" smtClean="0"/>
              <a:t>6</a:t>
            </a:fld>
            <a:endParaRPr lang="en-IN"/>
          </a:p>
        </p:txBody>
      </p:sp>
    </p:spTree>
    <p:extLst>
      <p:ext uri="{BB962C8B-B14F-4D97-AF65-F5344CB8AC3E}">
        <p14:creationId xmlns:p14="http://schemas.microsoft.com/office/powerpoint/2010/main" val="157718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94E4BF-EA75-4B2F-A3E2-90B8F3BC1060}" type="slidenum">
              <a:rPr lang="en-IN" smtClean="0"/>
              <a:t>7</a:t>
            </a:fld>
            <a:endParaRPr lang="en-IN"/>
          </a:p>
        </p:txBody>
      </p:sp>
    </p:spTree>
    <p:extLst>
      <p:ext uri="{BB962C8B-B14F-4D97-AF65-F5344CB8AC3E}">
        <p14:creationId xmlns:p14="http://schemas.microsoft.com/office/powerpoint/2010/main" val="1070617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68918-D6C4-CA87-014F-5852BAF60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AB7C0-8217-C177-38A1-CFF1BE766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E02F95-D3B2-FF71-F95F-AF486A807F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3882625-C9E0-0905-39EF-1F14701CD131}"/>
              </a:ext>
            </a:extLst>
          </p:cNvPr>
          <p:cNvSpPr>
            <a:spLocks noGrp="1"/>
          </p:cNvSpPr>
          <p:nvPr>
            <p:ph type="sldNum" sz="quarter" idx="5"/>
          </p:nvPr>
        </p:nvSpPr>
        <p:spPr/>
        <p:txBody>
          <a:bodyPr/>
          <a:lstStyle/>
          <a:p>
            <a:fld id="{4A94E4BF-EA75-4B2F-A3E2-90B8F3BC1060}" type="slidenum">
              <a:rPr lang="en-IN" smtClean="0"/>
              <a:t>8</a:t>
            </a:fld>
            <a:endParaRPr lang="en-IN"/>
          </a:p>
        </p:txBody>
      </p:sp>
    </p:spTree>
    <p:extLst>
      <p:ext uri="{BB962C8B-B14F-4D97-AF65-F5344CB8AC3E}">
        <p14:creationId xmlns:p14="http://schemas.microsoft.com/office/powerpoint/2010/main" val="2869869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2FE49-A43B-CEA2-DE11-321D2C5694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566D1-4FBF-D41F-56D7-6CFF504AD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DBEA1B-2FB5-EB62-1246-CADE91DB7FC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FB0E8CB-9AF3-AD72-6627-DAB3F3315726}"/>
              </a:ext>
            </a:extLst>
          </p:cNvPr>
          <p:cNvSpPr>
            <a:spLocks noGrp="1"/>
          </p:cNvSpPr>
          <p:nvPr>
            <p:ph type="sldNum" sz="quarter" idx="5"/>
          </p:nvPr>
        </p:nvSpPr>
        <p:spPr/>
        <p:txBody>
          <a:bodyPr/>
          <a:lstStyle/>
          <a:p>
            <a:fld id="{4A94E4BF-EA75-4B2F-A3E2-90B8F3BC1060}" type="slidenum">
              <a:rPr lang="en-IN" smtClean="0"/>
              <a:t>9</a:t>
            </a:fld>
            <a:endParaRPr lang="en-IN"/>
          </a:p>
        </p:txBody>
      </p:sp>
    </p:spTree>
    <p:extLst>
      <p:ext uri="{BB962C8B-B14F-4D97-AF65-F5344CB8AC3E}">
        <p14:creationId xmlns:p14="http://schemas.microsoft.com/office/powerpoint/2010/main" val="314505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1FEDF-8F9E-A9EE-2B7A-B08DF6A18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E2A36-34EF-5E4A-7B8A-1911CB9AD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4BDF3-1F34-615E-8B27-71F0F14906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43DB23B-AE8E-90FF-C779-3453BE2B292D}"/>
              </a:ext>
            </a:extLst>
          </p:cNvPr>
          <p:cNvSpPr>
            <a:spLocks noGrp="1"/>
          </p:cNvSpPr>
          <p:nvPr>
            <p:ph type="sldNum" sz="quarter" idx="5"/>
          </p:nvPr>
        </p:nvSpPr>
        <p:spPr/>
        <p:txBody>
          <a:bodyPr/>
          <a:lstStyle/>
          <a:p>
            <a:fld id="{4A94E4BF-EA75-4B2F-A3E2-90B8F3BC1060}" type="slidenum">
              <a:rPr lang="en-IN" smtClean="0"/>
              <a:t>10</a:t>
            </a:fld>
            <a:endParaRPr lang="en-IN"/>
          </a:p>
        </p:txBody>
      </p:sp>
    </p:spTree>
    <p:extLst>
      <p:ext uri="{BB962C8B-B14F-4D97-AF65-F5344CB8AC3E}">
        <p14:creationId xmlns:p14="http://schemas.microsoft.com/office/powerpoint/2010/main" val="2966311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94E4BF-EA75-4B2F-A3E2-90B8F3BC1060}" type="slidenum">
              <a:rPr lang="en-IN" smtClean="0"/>
              <a:t>12</a:t>
            </a:fld>
            <a:endParaRPr lang="en-IN"/>
          </a:p>
        </p:txBody>
      </p:sp>
    </p:spTree>
    <p:extLst>
      <p:ext uri="{BB962C8B-B14F-4D97-AF65-F5344CB8AC3E}">
        <p14:creationId xmlns:p14="http://schemas.microsoft.com/office/powerpoint/2010/main" val="2160466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3D45F6-9FCA-4206-839D-E6DD80267CB0}"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534271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3D45F6-9FCA-4206-839D-E6DD80267CB0}"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2970675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D45F6-9FCA-4206-839D-E6DD80267CB0}"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671930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3D45F6-9FCA-4206-839D-E6DD80267CB0}"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3263368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3D45F6-9FCA-4206-839D-E6DD80267CB0}" type="datetimeFigureOut">
              <a:rPr lang="en-IN" smtClean="0"/>
              <a:t>26-02-2026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3987783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3D45F6-9FCA-4206-839D-E6DD80267CB0}" type="datetimeFigureOut">
              <a:rPr lang="en-IN" smtClean="0"/>
              <a:t>26-02-2026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3412714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3D45F6-9FCA-4206-839D-E6DD80267CB0}" type="datetimeFigureOut">
              <a:rPr lang="en-IN" smtClean="0"/>
              <a:t>26-02-2026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1535012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3D45F6-9FCA-4206-839D-E6DD80267CB0}"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63148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3D45F6-9FCA-4206-839D-E6DD80267CB0}"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2065604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D45F6-9FCA-4206-839D-E6DD80267CB0}"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335904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D45F6-9FCA-4206-839D-E6DD80267CB0}"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E55B6-46C2-4E11-AC96-44E3BBD2CF2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30992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D45F6-9FCA-4206-839D-E6DD80267CB0}"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2226970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D45F6-9FCA-4206-839D-E6DD80267CB0}"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E55B6-46C2-4E11-AC96-44E3BBD2CF2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24487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3D45F6-9FCA-4206-839D-E6DD80267CB0}"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20339449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3D45F6-9FCA-4206-839D-E6DD80267CB0}"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829307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3D45F6-9FCA-4206-839D-E6DD80267CB0}"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0E55B6-46C2-4E11-AC96-44E3BBD2CF21}" type="slidenum">
              <a:rPr lang="en-IN" smtClean="0"/>
              <a:t>‹#›</a:t>
            </a:fld>
            <a:endParaRPr lang="en-IN"/>
          </a:p>
        </p:txBody>
      </p:sp>
    </p:spTree>
    <p:extLst>
      <p:ext uri="{BB962C8B-B14F-4D97-AF65-F5344CB8AC3E}">
        <p14:creationId xmlns:p14="http://schemas.microsoft.com/office/powerpoint/2010/main" val="1887060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83D45F6-9FCA-4206-839D-E6DD80267CB0}" type="datetimeFigureOut">
              <a:rPr lang="en-IN" smtClean="0"/>
              <a:t>26-02-2026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E0E55B6-46C2-4E11-AC96-44E3BBD2CF21}" type="slidenum">
              <a:rPr lang="en-IN" smtClean="0"/>
              <a:t>‹#›</a:t>
            </a:fld>
            <a:endParaRPr lang="en-IN"/>
          </a:p>
        </p:txBody>
      </p:sp>
    </p:spTree>
    <p:extLst>
      <p:ext uri="{BB962C8B-B14F-4D97-AF65-F5344CB8AC3E}">
        <p14:creationId xmlns:p14="http://schemas.microsoft.com/office/powerpoint/2010/main" val="352787483"/>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EDB0C-0253-A5B1-107A-881B5B248138}"/>
              </a:ext>
            </a:extLst>
          </p:cNvPr>
          <p:cNvSpPr>
            <a:spLocks noGrp="1"/>
          </p:cNvSpPr>
          <p:nvPr>
            <p:ph type="ctrTitle"/>
          </p:nvPr>
        </p:nvSpPr>
        <p:spPr>
          <a:xfrm>
            <a:off x="1507067" y="900113"/>
            <a:ext cx="7766936" cy="3150723"/>
          </a:xfrm>
        </p:spPr>
        <p:txBody>
          <a:bodyPr/>
          <a:lstStyle/>
          <a:p>
            <a:pPr algn="l"/>
            <a:r>
              <a:rPr lang="en-US" sz="3600" dirty="0"/>
              <a:t>Predicting Airline Passenger Satisfaction Using Machine Learning: A Data-Driven Approach to Enhancing Customer Experience</a:t>
            </a:r>
            <a:br>
              <a:rPr lang="en-US" sz="5400" dirty="0"/>
            </a:br>
            <a:endParaRPr lang="en-IN" dirty="0"/>
          </a:p>
        </p:txBody>
      </p:sp>
      <p:sp>
        <p:nvSpPr>
          <p:cNvPr id="3" name="Subtitle 2">
            <a:extLst>
              <a:ext uri="{FF2B5EF4-FFF2-40B4-BE49-F238E27FC236}">
                <a16:creationId xmlns:a16="http://schemas.microsoft.com/office/drawing/2014/main" id="{721A42FC-1EB6-8781-3BD0-A9681E408C79}"/>
              </a:ext>
            </a:extLst>
          </p:cNvPr>
          <p:cNvSpPr>
            <a:spLocks noGrp="1"/>
          </p:cNvSpPr>
          <p:nvPr>
            <p:ph type="subTitle" idx="1"/>
          </p:nvPr>
        </p:nvSpPr>
        <p:spPr/>
        <p:txBody>
          <a:bodyPr>
            <a:normAutofit/>
          </a:bodyPr>
          <a:lstStyle/>
          <a:p>
            <a:r>
              <a:rPr lang="en-IN" dirty="0">
                <a:solidFill>
                  <a:schemeClr val="tx1"/>
                </a:solidFill>
              </a:rPr>
              <a:t>By </a:t>
            </a:r>
          </a:p>
          <a:p>
            <a:r>
              <a:rPr lang="en-IN" dirty="0">
                <a:solidFill>
                  <a:schemeClr val="tx1"/>
                </a:solidFill>
              </a:rPr>
              <a:t>Yushma Premchand</a:t>
            </a:r>
          </a:p>
          <a:p>
            <a:endParaRPr lang="en-IN" dirty="0">
              <a:solidFill>
                <a:schemeClr val="tx1"/>
              </a:solidFill>
            </a:endParaRPr>
          </a:p>
        </p:txBody>
      </p:sp>
    </p:spTree>
    <p:extLst>
      <p:ext uri="{BB962C8B-B14F-4D97-AF65-F5344CB8AC3E}">
        <p14:creationId xmlns:p14="http://schemas.microsoft.com/office/powerpoint/2010/main" val="1454694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1652A-A485-AB94-E86A-DDB211AA2C64}"/>
              </a:ext>
            </a:extLst>
          </p:cNvPr>
          <p:cNvSpPr>
            <a:spLocks noGrp="1"/>
          </p:cNvSpPr>
          <p:nvPr>
            <p:ph type="title"/>
          </p:nvPr>
        </p:nvSpPr>
        <p:spPr/>
        <p:txBody>
          <a:bodyPr/>
          <a:lstStyle/>
          <a:p>
            <a:r>
              <a:rPr lang="en-US" sz="36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Problem Statement</a:t>
            </a:r>
            <a:br>
              <a:rPr lang="en-US" sz="3600" b="0" cap="none" spc="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br>
            <a:endParaRPr lang="en-IN" dirty="0"/>
          </a:p>
        </p:txBody>
      </p:sp>
      <p:sp>
        <p:nvSpPr>
          <p:cNvPr id="3" name="Content Placeholder 2">
            <a:extLst>
              <a:ext uri="{FF2B5EF4-FFF2-40B4-BE49-F238E27FC236}">
                <a16:creationId xmlns:a16="http://schemas.microsoft.com/office/drawing/2014/main" id="{835ED17C-2B06-FBEC-9BB8-0C0F95148E81}"/>
              </a:ext>
            </a:extLst>
          </p:cNvPr>
          <p:cNvSpPr>
            <a:spLocks noGrp="1"/>
          </p:cNvSpPr>
          <p:nvPr>
            <p:ph idx="1"/>
          </p:nvPr>
        </p:nvSpPr>
        <p:spPr>
          <a:xfrm>
            <a:off x="677334" y="2160589"/>
            <a:ext cx="9195329" cy="3880773"/>
          </a:xfrm>
        </p:spPr>
        <p:txBody>
          <a:bodyPr>
            <a:normAutofit lnSpcReduction="10000"/>
          </a:bodyPr>
          <a:lstStyle/>
          <a:p>
            <a:pPr marL="0" lvl="0" indent="0" algn="just" defTabSz="914400" eaLnBrk="0" fontAlgn="base" hangingPunct="0">
              <a:spcBef>
                <a:spcPct val="0"/>
              </a:spcBef>
              <a:spcAft>
                <a:spcPct val="0"/>
              </a:spcAft>
              <a:buClrTx/>
              <a:buSzTx/>
              <a:buNone/>
            </a:pPr>
            <a:r>
              <a:rPr lang="en-US" sz="1800" dirty="0"/>
              <a:t>In the competitive airline industry, understanding customer satisfaction is essential for improving service quality and retaining loyal passengers. This project aims to develop a machine learning model that predicts whether a customer is "Satisfied" or "Neutral/Unhappy" based on various factors including demographic details, travel characteristics, and service-related ratings such as booking ease, inflight service, cleanliness, entertainment, and more. By identifying the key drivers of satisfaction, airlines can take proactive steps to enhance passenger experiences, optimize operations, and make informed, data-driven decisions to improve overall customer engagement.</a:t>
            </a:r>
          </a:p>
          <a:p>
            <a:pPr marL="0" lvl="0" indent="0" defTabSz="914400" eaLnBrk="0" fontAlgn="base" hangingPunct="0">
              <a:spcBef>
                <a:spcPct val="0"/>
              </a:spcBef>
              <a:spcAft>
                <a:spcPct val="0"/>
              </a:spcAft>
              <a:buClrTx/>
              <a:buSzTx/>
              <a:buNone/>
            </a:pPr>
            <a:endParaRPr lang="en-US" altLang="en-US" sz="1800" b="1" dirty="0"/>
          </a:p>
          <a:p>
            <a:pPr marL="0" lvl="0" indent="0" defTabSz="914400" eaLnBrk="0" fontAlgn="base" hangingPunct="0">
              <a:spcBef>
                <a:spcPct val="0"/>
              </a:spcBef>
              <a:spcAft>
                <a:spcPct val="0"/>
              </a:spcAft>
              <a:buClrTx/>
              <a:buSzTx/>
              <a:buNone/>
            </a:pPr>
            <a:r>
              <a:rPr lang="en-US" altLang="en-US" sz="1800" b="1" dirty="0"/>
              <a:t>Business Goal:</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t>Improve overall customer experience by identifying pain points.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t>Predict customer satisfaction to proactively address service gaps.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t>Segment customers based on their likelihood of satisfaction for targeted service improvements.</a:t>
            </a:r>
          </a:p>
          <a:p>
            <a:endParaRPr lang="en-IN" dirty="0"/>
          </a:p>
        </p:txBody>
      </p:sp>
    </p:spTree>
    <p:extLst>
      <p:ext uri="{BB962C8B-B14F-4D97-AF65-F5344CB8AC3E}">
        <p14:creationId xmlns:p14="http://schemas.microsoft.com/office/powerpoint/2010/main" val="632028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D51C-4072-765D-D73F-AB4949EF248C}"/>
              </a:ext>
            </a:extLst>
          </p:cNvPr>
          <p:cNvSpPr>
            <a:spLocks noGrp="1"/>
          </p:cNvSpPr>
          <p:nvPr>
            <p:ph type="title"/>
          </p:nvPr>
        </p:nvSpPr>
        <p:spPr/>
        <p:txBody>
          <a:bodyPr/>
          <a:lstStyle/>
          <a:p>
            <a:r>
              <a:rPr lang="en-IN" dirty="0"/>
              <a:t>About the dataset</a:t>
            </a:r>
          </a:p>
        </p:txBody>
      </p:sp>
      <p:pic>
        <p:nvPicPr>
          <p:cNvPr id="14" name="Content Placeholder 13">
            <a:extLst>
              <a:ext uri="{FF2B5EF4-FFF2-40B4-BE49-F238E27FC236}">
                <a16:creationId xmlns:a16="http://schemas.microsoft.com/office/drawing/2014/main" id="{8D0A38B5-3D7B-F40C-A9B7-83B8F226FDC0}"/>
              </a:ext>
            </a:extLst>
          </p:cNvPr>
          <p:cNvPicPr>
            <a:picLocks noGrp="1" noChangeAspect="1"/>
          </p:cNvPicPr>
          <p:nvPr>
            <p:ph idx="1"/>
          </p:nvPr>
        </p:nvPicPr>
        <p:blipFill>
          <a:blip r:embed="rId2"/>
          <a:stretch>
            <a:fillRect/>
          </a:stretch>
        </p:blipFill>
        <p:spPr>
          <a:xfrm>
            <a:off x="528638" y="1600200"/>
            <a:ext cx="9229725" cy="4441825"/>
          </a:xfrm>
        </p:spPr>
      </p:pic>
    </p:spTree>
    <p:extLst>
      <p:ext uri="{BB962C8B-B14F-4D97-AF65-F5344CB8AC3E}">
        <p14:creationId xmlns:p14="http://schemas.microsoft.com/office/powerpoint/2010/main" val="669863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8807-6F94-64C3-BB99-5262A74E3154}"/>
              </a:ext>
            </a:extLst>
          </p:cNvPr>
          <p:cNvSpPr>
            <a:spLocks noGrp="1"/>
          </p:cNvSpPr>
          <p:nvPr>
            <p:ph type="title"/>
          </p:nvPr>
        </p:nvSpPr>
        <p:spPr/>
        <p:txBody>
          <a:bodyPr/>
          <a:lstStyle/>
          <a:p>
            <a:r>
              <a:rPr lang="en-IN" dirty="0"/>
              <a:t>Missing Values</a:t>
            </a:r>
          </a:p>
        </p:txBody>
      </p:sp>
      <p:pic>
        <p:nvPicPr>
          <p:cNvPr id="5" name="Content Placeholder 4">
            <a:extLst>
              <a:ext uri="{FF2B5EF4-FFF2-40B4-BE49-F238E27FC236}">
                <a16:creationId xmlns:a16="http://schemas.microsoft.com/office/drawing/2014/main" id="{395357DC-B2D9-283A-9496-5C5FFCE3473F}"/>
              </a:ext>
            </a:extLst>
          </p:cNvPr>
          <p:cNvPicPr>
            <a:picLocks noGrp="1" noChangeAspect="1"/>
          </p:cNvPicPr>
          <p:nvPr>
            <p:ph idx="1"/>
          </p:nvPr>
        </p:nvPicPr>
        <p:blipFill>
          <a:blip r:embed="rId2"/>
          <a:stretch>
            <a:fillRect/>
          </a:stretch>
        </p:blipFill>
        <p:spPr>
          <a:xfrm>
            <a:off x="677334" y="1428750"/>
            <a:ext cx="9095315" cy="4358717"/>
          </a:xfrm>
        </p:spPr>
      </p:pic>
    </p:spTree>
    <p:extLst>
      <p:ext uri="{BB962C8B-B14F-4D97-AF65-F5344CB8AC3E}">
        <p14:creationId xmlns:p14="http://schemas.microsoft.com/office/powerpoint/2010/main" val="2946354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2828D-BA14-7313-ABE1-628F7F095E66}"/>
              </a:ext>
            </a:extLst>
          </p:cNvPr>
          <p:cNvSpPr>
            <a:spLocks noGrp="1"/>
          </p:cNvSpPr>
          <p:nvPr>
            <p:ph type="title"/>
          </p:nvPr>
        </p:nvSpPr>
        <p:spPr/>
        <p:txBody>
          <a:bodyPr/>
          <a:lstStyle/>
          <a:p>
            <a:r>
              <a:rPr lang="en-IN" dirty="0"/>
              <a:t>Imbalance Data</a:t>
            </a:r>
          </a:p>
        </p:txBody>
      </p:sp>
      <p:pic>
        <p:nvPicPr>
          <p:cNvPr id="5" name="Content Placeholder 4">
            <a:extLst>
              <a:ext uri="{FF2B5EF4-FFF2-40B4-BE49-F238E27FC236}">
                <a16:creationId xmlns:a16="http://schemas.microsoft.com/office/drawing/2014/main" id="{C36916F0-0031-4AA0-4ADF-66C70D1EB1F0}"/>
              </a:ext>
            </a:extLst>
          </p:cNvPr>
          <p:cNvPicPr>
            <a:picLocks noGrp="1" noChangeAspect="1"/>
          </p:cNvPicPr>
          <p:nvPr>
            <p:ph idx="1"/>
          </p:nvPr>
        </p:nvPicPr>
        <p:blipFill>
          <a:blip r:embed="rId2"/>
          <a:stretch>
            <a:fillRect/>
          </a:stretch>
        </p:blipFill>
        <p:spPr>
          <a:xfrm>
            <a:off x="1033108" y="1930401"/>
            <a:ext cx="8596667" cy="4584700"/>
          </a:xfrm>
        </p:spPr>
      </p:pic>
    </p:spTree>
    <p:extLst>
      <p:ext uri="{BB962C8B-B14F-4D97-AF65-F5344CB8AC3E}">
        <p14:creationId xmlns:p14="http://schemas.microsoft.com/office/powerpoint/2010/main" val="2975902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C2526-2C11-F042-15D8-6F416C4B32C5}"/>
              </a:ext>
            </a:extLst>
          </p:cNvPr>
          <p:cNvSpPr>
            <a:spLocks noGrp="1"/>
          </p:cNvSpPr>
          <p:nvPr>
            <p:ph type="title"/>
          </p:nvPr>
        </p:nvSpPr>
        <p:spPr/>
        <p:txBody>
          <a:bodyPr/>
          <a:lstStyle/>
          <a:p>
            <a:r>
              <a:rPr lang="en-IN" dirty="0"/>
              <a:t>Column Encoding</a:t>
            </a:r>
          </a:p>
        </p:txBody>
      </p:sp>
      <p:sp>
        <p:nvSpPr>
          <p:cNvPr id="3" name="Content Placeholder 2">
            <a:extLst>
              <a:ext uri="{FF2B5EF4-FFF2-40B4-BE49-F238E27FC236}">
                <a16:creationId xmlns:a16="http://schemas.microsoft.com/office/drawing/2014/main" id="{E7707427-7E5A-7314-E331-3F60B269DCB5}"/>
              </a:ext>
            </a:extLst>
          </p:cNvPr>
          <p:cNvSpPr>
            <a:spLocks noGrp="1"/>
          </p:cNvSpPr>
          <p:nvPr>
            <p:ph idx="1"/>
          </p:nvPr>
        </p:nvSpPr>
        <p:spPr>
          <a:xfrm>
            <a:off x="677334" y="2471739"/>
            <a:ext cx="8596668" cy="3569624"/>
          </a:xfrm>
        </p:spPr>
        <p:txBody>
          <a:bodyPr/>
          <a:lstStyle/>
          <a:p>
            <a:r>
              <a:rPr lang="en-IN" dirty="0"/>
              <a:t>One hot encoding done for Class column.</a:t>
            </a:r>
          </a:p>
          <a:p>
            <a:r>
              <a:rPr lang="en-IN" dirty="0"/>
              <a:t>Encoding done on Gender, Customer Type, Type of Travel, Satisfaction, Class_Economy, Class_Economy plus .</a:t>
            </a:r>
          </a:p>
          <a:p>
            <a:r>
              <a:rPr lang="en-IN" dirty="0"/>
              <a:t>All object columns converted as Numerical columns.</a:t>
            </a:r>
          </a:p>
          <a:p>
            <a:r>
              <a:rPr lang="en-IN" dirty="0"/>
              <a:t>Dropped duplicate rows and ID column.</a:t>
            </a:r>
          </a:p>
        </p:txBody>
      </p:sp>
    </p:spTree>
    <p:extLst>
      <p:ext uri="{BB962C8B-B14F-4D97-AF65-F5344CB8AC3E}">
        <p14:creationId xmlns:p14="http://schemas.microsoft.com/office/powerpoint/2010/main" val="4173392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E5D31-CB5C-2BD3-0FB1-C8315536F8B0}"/>
              </a:ext>
            </a:extLst>
          </p:cNvPr>
          <p:cNvSpPr>
            <a:spLocks noGrp="1"/>
          </p:cNvSpPr>
          <p:nvPr>
            <p:ph type="title"/>
          </p:nvPr>
        </p:nvSpPr>
        <p:spPr>
          <a:xfrm>
            <a:off x="677334" y="609600"/>
            <a:ext cx="4037541" cy="1320800"/>
          </a:xfrm>
        </p:spPr>
        <p:txBody>
          <a:bodyPr/>
          <a:lstStyle/>
          <a:p>
            <a:r>
              <a:rPr lang="en-IN" dirty="0"/>
              <a:t>Logistic regression</a:t>
            </a:r>
          </a:p>
        </p:txBody>
      </p:sp>
      <p:sp>
        <p:nvSpPr>
          <p:cNvPr id="6" name="Title 1">
            <a:extLst>
              <a:ext uri="{FF2B5EF4-FFF2-40B4-BE49-F238E27FC236}">
                <a16:creationId xmlns:a16="http://schemas.microsoft.com/office/drawing/2014/main" id="{E0B99BC9-C48E-9858-3F87-CEC8DFF88FA0}"/>
              </a:ext>
            </a:extLst>
          </p:cNvPr>
          <p:cNvSpPr txBox="1">
            <a:spLocks/>
          </p:cNvSpPr>
          <p:nvPr/>
        </p:nvSpPr>
        <p:spPr>
          <a:xfrm>
            <a:off x="5014913" y="590549"/>
            <a:ext cx="4872037"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Decision Tree regression</a:t>
            </a:r>
          </a:p>
        </p:txBody>
      </p:sp>
      <p:sp>
        <p:nvSpPr>
          <p:cNvPr id="11" name="Content Placeholder 10">
            <a:extLst>
              <a:ext uri="{FF2B5EF4-FFF2-40B4-BE49-F238E27FC236}">
                <a16:creationId xmlns:a16="http://schemas.microsoft.com/office/drawing/2014/main" id="{B21CE7F6-5020-6F33-DB56-2D98BE5F5C9A}"/>
              </a:ext>
            </a:extLst>
          </p:cNvPr>
          <p:cNvSpPr>
            <a:spLocks noGrp="1"/>
          </p:cNvSpPr>
          <p:nvPr>
            <p:ph idx="1"/>
          </p:nvPr>
        </p:nvSpPr>
        <p:spPr>
          <a:xfrm>
            <a:off x="677334" y="2571750"/>
            <a:ext cx="3794654" cy="3469612"/>
          </a:xfrm>
        </p:spPr>
        <p:txBody>
          <a:bodyPr/>
          <a:lstStyle/>
          <a:p>
            <a:r>
              <a:rPr lang="en-IN" dirty="0"/>
              <a:t>Training Accuracy – 0.80067754</a:t>
            </a:r>
          </a:p>
          <a:p>
            <a:r>
              <a:rPr lang="en-IN" dirty="0"/>
              <a:t>Test Accuracy – 0.80366492</a:t>
            </a:r>
          </a:p>
          <a:p>
            <a:r>
              <a:rPr lang="en-IN" dirty="0"/>
              <a:t>With Cross Validation- 0.8044348623</a:t>
            </a:r>
          </a:p>
          <a:p>
            <a:endParaRPr lang="en-IN" dirty="0"/>
          </a:p>
          <a:p>
            <a:endParaRPr lang="en-IN" dirty="0"/>
          </a:p>
        </p:txBody>
      </p:sp>
      <p:sp>
        <p:nvSpPr>
          <p:cNvPr id="14" name="Content Placeholder 10">
            <a:extLst>
              <a:ext uri="{FF2B5EF4-FFF2-40B4-BE49-F238E27FC236}">
                <a16:creationId xmlns:a16="http://schemas.microsoft.com/office/drawing/2014/main" id="{54745092-CF2E-BBF5-D271-DC7B545ED24C}"/>
              </a:ext>
            </a:extLst>
          </p:cNvPr>
          <p:cNvSpPr txBox="1">
            <a:spLocks/>
          </p:cNvSpPr>
          <p:nvPr/>
        </p:nvSpPr>
        <p:spPr>
          <a:xfrm>
            <a:off x="5201709" y="2571750"/>
            <a:ext cx="3794654" cy="346961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Training Accuracy – 1.0</a:t>
            </a:r>
          </a:p>
          <a:p>
            <a:r>
              <a:rPr lang="en-IN" dirty="0"/>
              <a:t>Test Accuracy – 0.937162508</a:t>
            </a:r>
          </a:p>
          <a:p>
            <a:r>
              <a:rPr lang="en-IN" dirty="0"/>
              <a:t>With Cross Validation- 0.93634124</a:t>
            </a:r>
          </a:p>
          <a:p>
            <a:endParaRPr lang="en-IN" dirty="0"/>
          </a:p>
          <a:p>
            <a:endParaRPr lang="en-IN" dirty="0"/>
          </a:p>
        </p:txBody>
      </p:sp>
    </p:spTree>
    <p:extLst>
      <p:ext uri="{BB962C8B-B14F-4D97-AF65-F5344CB8AC3E}">
        <p14:creationId xmlns:p14="http://schemas.microsoft.com/office/powerpoint/2010/main" val="1991368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12652-7345-8B14-B5E3-828EA58B5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45BC8-8468-2216-A603-7159C93FA189}"/>
              </a:ext>
            </a:extLst>
          </p:cNvPr>
          <p:cNvSpPr>
            <a:spLocks noGrp="1"/>
          </p:cNvSpPr>
          <p:nvPr>
            <p:ph type="title"/>
          </p:nvPr>
        </p:nvSpPr>
        <p:spPr>
          <a:xfrm>
            <a:off x="677334" y="609600"/>
            <a:ext cx="4037541" cy="1320800"/>
          </a:xfrm>
        </p:spPr>
        <p:txBody>
          <a:bodyPr/>
          <a:lstStyle/>
          <a:p>
            <a:r>
              <a:rPr lang="en-IN" dirty="0"/>
              <a:t>Bagging Classifier</a:t>
            </a:r>
          </a:p>
        </p:txBody>
      </p:sp>
      <p:sp>
        <p:nvSpPr>
          <p:cNvPr id="6" name="Title 1">
            <a:extLst>
              <a:ext uri="{FF2B5EF4-FFF2-40B4-BE49-F238E27FC236}">
                <a16:creationId xmlns:a16="http://schemas.microsoft.com/office/drawing/2014/main" id="{237079D1-DFAE-FA95-F16A-4DC57BFC8B38}"/>
              </a:ext>
            </a:extLst>
          </p:cNvPr>
          <p:cNvSpPr txBox="1">
            <a:spLocks/>
          </p:cNvSpPr>
          <p:nvPr/>
        </p:nvSpPr>
        <p:spPr>
          <a:xfrm>
            <a:off x="5014913" y="590549"/>
            <a:ext cx="4872037"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Random Forest Classifier</a:t>
            </a:r>
          </a:p>
        </p:txBody>
      </p:sp>
      <p:sp>
        <p:nvSpPr>
          <p:cNvPr id="11" name="Content Placeholder 10">
            <a:extLst>
              <a:ext uri="{FF2B5EF4-FFF2-40B4-BE49-F238E27FC236}">
                <a16:creationId xmlns:a16="http://schemas.microsoft.com/office/drawing/2014/main" id="{82B604B4-CF72-2927-A9B8-A225D38F451E}"/>
              </a:ext>
            </a:extLst>
          </p:cNvPr>
          <p:cNvSpPr>
            <a:spLocks noGrp="1"/>
          </p:cNvSpPr>
          <p:nvPr>
            <p:ph idx="1"/>
          </p:nvPr>
        </p:nvSpPr>
        <p:spPr>
          <a:xfrm>
            <a:off x="677334" y="2571750"/>
            <a:ext cx="3794654" cy="3469612"/>
          </a:xfrm>
        </p:spPr>
        <p:txBody>
          <a:bodyPr/>
          <a:lstStyle/>
          <a:p>
            <a:r>
              <a:rPr lang="en-IN" dirty="0"/>
              <a:t>Training Accuracy – 0.99544194</a:t>
            </a:r>
          </a:p>
          <a:p>
            <a:r>
              <a:rPr lang="en-IN" dirty="0"/>
              <a:t>Test Accuracy – 0.952058310</a:t>
            </a:r>
          </a:p>
          <a:p>
            <a:r>
              <a:rPr lang="en-IN" dirty="0"/>
              <a:t>With Cross Validation-0.95205831</a:t>
            </a:r>
          </a:p>
          <a:p>
            <a:endParaRPr lang="en-IN" dirty="0"/>
          </a:p>
        </p:txBody>
      </p:sp>
      <p:sp>
        <p:nvSpPr>
          <p:cNvPr id="14" name="Content Placeholder 10">
            <a:extLst>
              <a:ext uri="{FF2B5EF4-FFF2-40B4-BE49-F238E27FC236}">
                <a16:creationId xmlns:a16="http://schemas.microsoft.com/office/drawing/2014/main" id="{93578734-361F-A0D3-2BE5-3DFFFEE9C14E}"/>
              </a:ext>
            </a:extLst>
          </p:cNvPr>
          <p:cNvSpPr txBox="1">
            <a:spLocks/>
          </p:cNvSpPr>
          <p:nvPr/>
        </p:nvSpPr>
        <p:spPr>
          <a:xfrm>
            <a:off x="5201709" y="2571750"/>
            <a:ext cx="3794654" cy="346961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Training Accuracy – 0.94789036</a:t>
            </a:r>
          </a:p>
          <a:p>
            <a:r>
              <a:rPr lang="en-IN" dirty="0"/>
              <a:t>Test Accuracy –0.940724771</a:t>
            </a:r>
          </a:p>
          <a:p>
            <a:r>
              <a:rPr lang="en-IN" dirty="0"/>
              <a:t>With Cross Validation- 0.94108407</a:t>
            </a:r>
          </a:p>
          <a:p>
            <a:endParaRPr lang="en-IN" dirty="0"/>
          </a:p>
          <a:p>
            <a:endParaRPr lang="en-IN" dirty="0"/>
          </a:p>
        </p:txBody>
      </p:sp>
    </p:spTree>
    <p:extLst>
      <p:ext uri="{BB962C8B-B14F-4D97-AF65-F5344CB8AC3E}">
        <p14:creationId xmlns:p14="http://schemas.microsoft.com/office/powerpoint/2010/main" val="4021568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93849-0AF8-326B-D2DF-4C5E90F66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02220-CF7A-F2B5-773E-3460BCE5485D}"/>
              </a:ext>
            </a:extLst>
          </p:cNvPr>
          <p:cNvSpPr>
            <a:spLocks noGrp="1"/>
          </p:cNvSpPr>
          <p:nvPr>
            <p:ph type="title"/>
          </p:nvPr>
        </p:nvSpPr>
        <p:spPr>
          <a:xfrm>
            <a:off x="677334" y="609600"/>
            <a:ext cx="4037541" cy="1320800"/>
          </a:xfrm>
        </p:spPr>
        <p:txBody>
          <a:bodyPr/>
          <a:lstStyle/>
          <a:p>
            <a:r>
              <a:rPr lang="en-IN" dirty="0"/>
              <a:t>XGBoost Classifier</a:t>
            </a:r>
          </a:p>
        </p:txBody>
      </p:sp>
      <p:sp>
        <p:nvSpPr>
          <p:cNvPr id="6" name="Title 1">
            <a:extLst>
              <a:ext uri="{FF2B5EF4-FFF2-40B4-BE49-F238E27FC236}">
                <a16:creationId xmlns:a16="http://schemas.microsoft.com/office/drawing/2014/main" id="{EBC8D2A2-B43C-1361-E58C-7BE5E9C379B0}"/>
              </a:ext>
            </a:extLst>
          </p:cNvPr>
          <p:cNvSpPr txBox="1">
            <a:spLocks/>
          </p:cNvSpPr>
          <p:nvPr/>
        </p:nvSpPr>
        <p:spPr>
          <a:xfrm>
            <a:off x="5014913" y="590549"/>
            <a:ext cx="4872037"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dirty="0"/>
              <a:t>SVM</a:t>
            </a:r>
          </a:p>
        </p:txBody>
      </p:sp>
      <p:sp>
        <p:nvSpPr>
          <p:cNvPr id="11" name="Content Placeholder 10">
            <a:extLst>
              <a:ext uri="{FF2B5EF4-FFF2-40B4-BE49-F238E27FC236}">
                <a16:creationId xmlns:a16="http://schemas.microsoft.com/office/drawing/2014/main" id="{AFB92CF7-887E-133E-CBAE-554860DAFF45}"/>
              </a:ext>
            </a:extLst>
          </p:cNvPr>
          <p:cNvSpPr>
            <a:spLocks noGrp="1"/>
          </p:cNvSpPr>
          <p:nvPr>
            <p:ph idx="1"/>
          </p:nvPr>
        </p:nvSpPr>
        <p:spPr>
          <a:xfrm>
            <a:off x="677334" y="2571750"/>
            <a:ext cx="3794654" cy="3469612"/>
          </a:xfrm>
        </p:spPr>
        <p:txBody>
          <a:bodyPr/>
          <a:lstStyle/>
          <a:p>
            <a:r>
              <a:rPr lang="en-IN" dirty="0"/>
              <a:t>Training Accuracy – 0.98654142</a:t>
            </a:r>
          </a:p>
          <a:p>
            <a:r>
              <a:rPr lang="en-IN" dirty="0"/>
              <a:t>Test Accuracy – 0.95943948</a:t>
            </a:r>
          </a:p>
          <a:p>
            <a:r>
              <a:rPr lang="en-IN" dirty="0"/>
              <a:t>With Cross Validation-0.95796119</a:t>
            </a:r>
          </a:p>
          <a:p>
            <a:endParaRPr lang="en-IN" dirty="0"/>
          </a:p>
        </p:txBody>
      </p:sp>
      <p:sp>
        <p:nvSpPr>
          <p:cNvPr id="14" name="Content Placeholder 10">
            <a:extLst>
              <a:ext uri="{FF2B5EF4-FFF2-40B4-BE49-F238E27FC236}">
                <a16:creationId xmlns:a16="http://schemas.microsoft.com/office/drawing/2014/main" id="{8BD9F1AC-C3C0-F896-138E-507114EFD7A7}"/>
              </a:ext>
            </a:extLst>
          </p:cNvPr>
          <p:cNvSpPr txBox="1">
            <a:spLocks/>
          </p:cNvSpPr>
          <p:nvPr/>
        </p:nvSpPr>
        <p:spPr>
          <a:xfrm>
            <a:off x="5201709" y="2571750"/>
            <a:ext cx="3794654" cy="346961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Training Accuracy – 0.61352017</a:t>
            </a:r>
          </a:p>
          <a:p>
            <a:r>
              <a:rPr lang="en-IN" dirty="0"/>
              <a:t>Test Accuracy –0.617780513</a:t>
            </a:r>
          </a:p>
          <a:p>
            <a:r>
              <a:rPr lang="en-IN" dirty="0"/>
              <a:t>With Cross Validation- 0.59855251</a:t>
            </a:r>
          </a:p>
          <a:p>
            <a:endParaRPr lang="en-IN" dirty="0"/>
          </a:p>
        </p:txBody>
      </p:sp>
    </p:spTree>
    <p:extLst>
      <p:ext uri="{BB962C8B-B14F-4D97-AF65-F5344CB8AC3E}">
        <p14:creationId xmlns:p14="http://schemas.microsoft.com/office/powerpoint/2010/main" val="2240655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90020-7360-5C17-E6FD-677418E87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14E57-E02C-0C53-9C20-3E027FA32515}"/>
              </a:ext>
            </a:extLst>
          </p:cNvPr>
          <p:cNvSpPr>
            <a:spLocks noGrp="1"/>
          </p:cNvSpPr>
          <p:nvPr>
            <p:ph type="title"/>
          </p:nvPr>
        </p:nvSpPr>
        <p:spPr>
          <a:xfrm>
            <a:off x="677334" y="609600"/>
            <a:ext cx="8073489" cy="1320800"/>
          </a:xfrm>
        </p:spPr>
        <p:txBody>
          <a:bodyPr/>
          <a:lstStyle/>
          <a:p>
            <a:pPr algn="ctr"/>
            <a:r>
              <a:rPr lang="en-IN" dirty="0"/>
              <a:t>Feature Importance</a:t>
            </a:r>
          </a:p>
        </p:txBody>
      </p:sp>
      <p:pic>
        <p:nvPicPr>
          <p:cNvPr id="10" name="Content Placeholder 9">
            <a:extLst>
              <a:ext uri="{FF2B5EF4-FFF2-40B4-BE49-F238E27FC236}">
                <a16:creationId xmlns:a16="http://schemas.microsoft.com/office/drawing/2014/main" id="{94DB96AC-E666-207A-AB94-0508B346A6EB}"/>
              </a:ext>
            </a:extLst>
          </p:cNvPr>
          <p:cNvPicPr>
            <a:picLocks noGrp="1" noChangeAspect="1"/>
          </p:cNvPicPr>
          <p:nvPr>
            <p:ph idx="1"/>
          </p:nvPr>
        </p:nvPicPr>
        <p:blipFill>
          <a:blip r:embed="rId3"/>
          <a:stretch>
            <a:fillRect/>
          </a:stretch>
        </p:blipFill>
        <p:spPr>
          <a:xfrm>
            <a:off x="1201214" y="1771650"/>
            <a:ext cx="8073489" cy="4270375"/>
          </a:xfrm>
        </p:spPr>
      </p:pic>
    </p:spTree>
    <p:extLst>
      <p:ext uri="{BB962C8B-B14F-4D97-AF65-F5344CB8AC3E}">
        <p14:creationId xmlns:p14="http://schemas.microsoft.com/office/powerpoint/2010/main" val="511383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2AACB7-227D-BD7F-C517-913033C99683}"/>
              </a:ext>
            </a:extLst>
          </p:cNvPr>
          <p:cNvSpPr>
            <a:spLocks noGrp="1"/>
          </p:cNvSpPr>
          <p:nvPr>
            <p:ph idx="1"/>
          </p:nvPr>
        </p:nvSpPr>
        <p:spPr>
          <a:xfrm>
            <a:off x="677334" y="2132014"/>
            <a:ext cx="8596668" cy="3880773"/>
          </a:xfrm>
        </p:spPr>
        <p:txBody>
          <a:bodyPr/>
          <a:lstStyle/>
          <a:p>
            <a:pPr>
              <a:buNone/>
            </a:pPr>
            <a:r>
              <a:rPr lang="en-US" dirty="0"/>
              <a:t>Online Boarding – Most critical factor; likely due to convenience and speed.</a:t>
            </a:r>
          </a:p>
          <a:p>
            <a:pPr>
              <a:buNone/>
            </a:pPr>
            <a:r>
              <a:rPr lang="en-US" dirty="0"/>
              <a:t>In-flight Wi-Fi Service – Connectivity is increasingly valued.</a:t>
            </a:r>
          </a:p>
          <a:p>
            <a:pPr>
              <a:buNone/>
            </a:pPr>
            <a:r>
              <a:rPr lang="en-US" dirty="0"/>
              <a:t>Type of Travel – Business vs. personal travel impacts satisfaction expectations.</a:t>
            </a:r>
          </a:p>
          <a:p>
            <a:pPr>
              <a:buNone/>
            </a:pPr>
            <a:r>
              <a:rPr lang="en-US" dirty="0"/>
              <a:t>Class_Economy – Travel class significantly affects comfort and service level.</a:t>
            </a:r>
          </a:p>
          <a:p>
            <a:pPr marL="0" indent="0">
              <a:buNone/>
            </a:pPr>
            <a:r>
              <a:rPr lang="en-US" dirty="0"/>
              <a:t>In-flight Entertainment – Keeps passengers engaged and comfortable.</a:t>
            </a:r>
          </a:p>
          <a:p>
            <a:endParaRPr lang="en-IN" dirty="0"/>
          </a:p>
        </p:txBody>
      </p:sp>
    </p:spTree>
    <p:extLst>
      <p:ext uri="{BB962C8B-B14F-4D97-AF65-F5344CB8AC3E}">
        <p14:creationId xmlns:p14="http://schemas.microsoft.com/office/powerpoint/2010/main" val="3050597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40D5E-4364-C9DA-D4A6-5632AFA4BC2C}"/>
              </a:ext>
            </a:extLst>
          </p:cNvPr>
          <p:cNvSpPr>
            <a:spLocks noGrp="1"/>
          </p:cNvSpPr>
          <p:nvPr>
            <p:ph type="title"/>
          </p:nvPr>
        </p:nvSpPr>
        <p:spPr/>
        <p:txBody>
          <a:bodyPr/>
          <a:lstStyle/>
          <a:p>
            <a:r>
              <a:rPr lang="en-IN" dirty="0"/>
              <a:t>Targeted Service improvements</a:t>
            </a:r>
          </a:p>
        </p:txBody>
      </p:sp>
      <p:sp>
        <p:nvSpPr>
          <p:cNvPr id="8" name="Content Placeholder 7">
            <a:extLst>
              <a:ext uri="{FF2B5EF4-FFF2-40B4-BE49-F238E27FC236}">
                <a16:creationId xmlns:a16="http://schemas.microsoft.com/office/drawing/2014/main" id="{C12224AF-D196-5B4E-3E51-2AA64C060F84}"/>
              </a:ext>
            </a:extLst>
          </p:cNvPr>
          <p:cNvSpPr>
            <a:spLocks noGrp="1"/>
          </p:cNvSpPr>
          <p:nvPr>
            <p:ph idx="1"/>
          </p:nvPr>
        </p:nvSpPr>
        <p:spPr/>
        <p:txBody>
          <a:bodyPr/>
          <a:lstStyle/>
          <a:p>
            <a:r>
              <a:rPr lang="en-IN" dirty="0"/>
              <a:t>Calculated the probabilities of the satisfied customer</a:t>
            </a:r>
          </a:p>
          <a:p>
            <a:r>
              <a:rPr lang="en-IN" dirty="0"/>
              <a:t>Segregated according to segments </a:t>
            </a:r>
          </a:p>
          <a:p>
            <a:r>
              <a:rPr lang="en-IN" dirty="0"/>
              <a:t>Targeted high, medium and Low risk customers</a:t>
            </a:r>
          </a:p>
          <a:p>
            <a:endParaRPr lang="en-IN" dirty="0"/>
          </a:p>
        </p:txBody>
      </p:sp>
    </p:spTree>
    <p:extLst>
      <p:ext uri="{BB962C8B-B14F-4D97-AF65-F5344CB8AC3E}">
        <p14:creationId xmlns:p14="http://schemas.microsoft.com/office/powerpoint/2010/main" val="3565844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80DC7-9B4D-6B35-0C7E-E3A513F9FCAD}"/>
              </a:ext>
            </a:extLst>
          </p:cNvPr>
          <p:cNvSpPr>
            <a:spLocks noGrp="1"/>
          </p:cNvSpPr>
          <p:nvPr>
            <p:ph type="title"/>
          </p:nvPr>
        </p:nvSpPr>
        <p:spPr/>
        <p:txBody>
          <a:bodyPr/>
          <a:lstStyle/>
          <a:p>
            <a:r>
              <a:rPr lang="en-IN" dirty="0"/>
              <a:t>Segment wise Action Plan</a:t>
            </a:r>
          </a:p>
        </p:txBody>
      </p:sp>
      <p:pic>
        <p:nvPicPr>
          <p:cNvPr id="6" name="Content Placeholder 5">
            <a:extLst>
              <a:ext uri="{FF2B5EF4-FFF2-40B4-BE49-F238E27FC236}">
                <a16:creationId xmlns:a16="http://schemas.microsoft.com/office/drawing/2014/main" id="{5227623C-E04A-38C2-7115-638ECF5247D8}"/>
              </a:ext>
            </a:extLst>
          </p:cNvPr>
          <p:cNvPicPr>
            <a:picLocks noGrp="1" noChangeAspect="1"/>
          </p:cNvPicPr>
          <p:nvPr>
            <p:ph idx="1"/>
          </p:nvPr>
        </p:nvPicPr>
        <p:blipFill>
          <a:blip r:embed="rId2"/>
          <a:stretch>
            <a:fillRect/>
          </a:stretch>
        </p:blipFill>
        <p:spPr>
          <a:xfrm>
            <a:off x="1128713" y="2471739"/>
            <a:ext cx="8286750" cy="3200400"/>
          </a:xfrm>
        </p:spPr>
      </p:pic>
    </p:spTree>
    <p:extLst>
      <p:ext uri="{BB962C8B-B14F-4D97-AF65-F5344CB8AC3E}">
        <p14:creationId xmlns:p14="http://schemas.microsoft.com/office/powerpoint/2010/main" val="2543635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7CA98-BD54-FA55-3E3B-9DFD18D5507D}"/>
              </a:ext>
            </a:extLst>
          </p:cNvPr>
          <p:cNvSpPr>
            <a:spLocks noGrp="1"/>
          </p:cNvSpPr>
          <p:nvPr>
            <p:ph type="title"/>
          </p:nvPr>
        </p:nvSpPr>
        <p:spPr/>
        <p:txBody>
          <a:bodyPr>
            <a:normAutofit fontScale="90000"/>
          </a:bodyPr>
          <a:lstStyle/>
          <a:p>
            <a:r>
              <a:rPr lang="en-US" b="1" dirty="0"/>
              <a:t>Recommend Improvements Based on Findings</a:t>
            </a:r>
            <a:br>
              <a:rPr lang="en-US" b="1" dirty="0"/>
            </a:br>
            <a:endParaRPr lang="en-IN" dirty="0"/>
          </a:p>
        </p:txBody>
      </p:sp>
      <p:pic>
        <p:nvPicPr>
          <p:cNvPr id="5" name="Content Placeholder 4">
            <a:extLst>
              <a:ext uri="{FF2B5EF4-FFF2-40B4-BE49-F238E27FC236}">
                <a16:creationId xmlns:a16="http://schemas.microsoft.com/office/drawing/2014/main" id="{7D837599-2FA0-AD1F-3F28-85790223AE37}"/>
              </a:ext>
            </a:extLst>
          </p:cNvPr>
          <p:cNvPicPr>
            <a:picLocks noGrp="1" noChangeAspect="1"/>
          </p:cNvPicPr>
          <p:nvPr>
            <p:ph idx="1"/>
          </p:nvPr>
        </p:nvPicPr>
        <p:blipFill>
          <a:blip r:embed="rId2"/>
          <a:stretch>
            <a:fillRect/>
          </a:stretch>
        </p:blipFill>
        <p:spPr>
          <a:xfrm>
            <a:off x="703460" y="2900363"/>
            <a:ext cx="10397928" cy="3348037"/>
          </a:xfrm>
        </p:spPr>
      </p:pic>
    </p:spTree>
    <p:extLst>
      <p:ext uri="{BB962C8B-B14F-4D97-AF65-F5344CB8AC3E}">
        <p14:creationId xmlns:p14="http://schemas.microsoft.com/office/powerpoint/2010/main" val="2679276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61215A-1E3F-8DE0-B46F-91C63B8552B7}"/>
              </a:ext>
            </a:extLst>
          </p:cNvPr>
          <p:cNvSpPr>
            <a:spLocks noGrp="1"/>
          </p:cNvSpPr>
          <p:nvPr>
            <p:ph idx="1"/>
          </p:nvPr>
        </p:nvSpPr>
        <p:spPr/>
        <p:txBody>
          <a:bodyPr/>
          <a:lstStyle/>
          <a:p>
            <a:pPr algn="ctr"/>
            <a:endParaRPr lang="en-IN" dirty="0">
              <a:solidFill>
                <a:schemeClr val="accent1"/>
              </a:solidFill>
            </a:endParaRPr>
          </a:p>
          <a:p>
            <a:pPr marL="0" indent="0" algn="ctr">
              <a:buNone/>
            </a:pPr>
            <a:endParaRPr lang="en-IN" sz="4400" dirty="0">
              <a:solidFill>
                <a:schemeClr val="accent1"/>
              </a:solidFill>
            </a:endParaRPr>
          </a:p>
          <a:p>
            <a:pPr marL="0" indent="0" algn="ctr">
              <a:buNone/>
            </a:pPr>
            <a:r>
              <a:rPr lang="en-IN" sz="4400" dirty="0">
                <a:solidFill>
                  <a:schemeClr val="accent1"/>
                </a:solidFill>
              </a:rPr>
              <a:t>THANK YOU</a:t>
            </a:r>
          </a:p>
        </p:txBody>
      </p:sp>
    </p:spTree>
    <p:extLst>
      <p:ext uri="{BB962C8B-B14F-4D97-AF65-F5344CB8AC3E}">
        <p14:creationId xmlns:p14="http://schemas.microsoft.com/office/powerpoint/2010/main" val="230330077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104</TotalTime>
  <Words>400</Words>
  <Application>Microsoft Office PowerPoint</Application>
  <PresentationFormat>Widescreen</PresentationFormat>
  <Paragraphs>63</Paragraphs>
  <Slides>15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Black</vt:lpstr>
      <vt:lpstr>Calibri</vt:lpstr>
      <vt:lpstr>Trebuchet MS</vt:lpstr>
      <vt:lpstr>Wingdings 3</vt:lpstr>
      <vt:lpstr>Facet</vt:lpstr>
      <vt:lpstr>Predicting Airline Passenger Satisfaction Using Machine Learning: A Data-Driven Approach to Enhancing Customer Experience </vt:lpstr>
      <vt:lpstr>Problem Statement </vt:lpstr>
      <vt:lpstr>About the dataset</vt:lpstr>
      <vt:lpstr>Missing Values</vt:lpstr>
      <vt:lpstr>Imbalance Data</vt:lpstr>
      <vt:lpstr>Column Encoding</vt:lpstr>
      <vt:lpstr>Logistic regression</vt:lpstr>
      <vt:lpstr>Bagging Classifier</vt:lpstr>
      <vt:lpstr>XGBoost Classifier</vt:lpstr>
      <vt:lpstr>Feature Importance</vt:lpstr>
      <vt:lpstr>PowerPoint Presentation</vt:lpstr>
      <vt:lpstr>Targeted Service improvements</vt:lpstr>
      <vt:lpstr>Segment wise Action Plan</vt:lpstr>
      <vt:lpstr>Recommend Improvements Based on Findings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Premchand Rao</dc:creator>
  <cp:lastModifiedBy>Premchand Rao</cp:lastModifiedBy>
  <cp:revision>26</cp:revision>
  <dcterms:created xsi:type="dcterms:W3CDTF">2025-05-04T13:41:38Z</dcterms:created>
  <dcterms:modified xsi:type="dcterms:W3CDTF">2026-02-25T20:09:53Z</dcterms:modified>
</cp:coreProperties>
</file>